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3"/>
  </p:notesMasterIdLst>
  <p:handoutMasterIdLst>
    <p:handoutMasterId r:id="rId4"/>
  </p:handoutMasterIdLst>
  <p:sldIdLst>
    <p:sldId id="327" r:id="rId2"/>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20" userDrawn="1">
          <p15:clr>
            <a:srgbClr val="A4A3A4"/>
          </p15:clr>
        </p15:guide>
        <p15:guide id="2" pos="529" userDrawn="1">
          <p15:clr>
            <a:srgbClr val="A4A3A4"/>
          </p15:clr>
        </p15:guide>
        <p15:guide id="3" pos="7015" userDrawn="1">
          <p15:clr>
            <a:srgbClr val="A4A3A4"/>
          </p15:clr>
        </p15:guide>
        <p15:guide id="4" orient="horz" pos="43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7D9"/>
    <a:srgbClr val="F0B6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18" autoAdjust="0"/>
    <p:restoredTop sz="97046" autoAdjust="0"/>
  </p:normalViewPr>
  <p:slideViewPr>
    <p:cSldViewPr snapToGrid="0">
      <p:cViewPr varScale="1">
        <p:scale>
          <a:sx n="110" d="100"/>
          <a:sy n="110" d="100"/>
        </p:scale>
        <p:origin x="1038" y="96"/>
      </p:cViewPr>
      <p:guideLst>
        <p:guide orient="horz" pos="4020"/>
        <p:guide pos="529"/>
        <p:guide pos="7015"/>
        <p:guide orient="horz" pos="436"/>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83" d="100"/>
          <a:sy n="83" d="100"/>
        </p:scale>
        <p:origin x="385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Calibri Regular"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8FA78A5-0A8C-BB4A-989B-613D7251D3B1}" type="datetime6">
              <a:rPr lang="fr-FR" smtClean="0">
                <a:latin typeface="Calibri Regular" charset="0"/>
              </a:rPr>
              <a:t>novembre 25</a:t>
            </a:fld>
            <a:endParaRPr lang="en-US" dirty="0">
              <a:latin typeface="Calibri Regular"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Calibri Regular"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1BCF83-E995-406B-90B7-34CBC7B459E2}" type="slidenum">
              <a:rPr lang="en-US" smtClean="0">
                <a:latin typeface="Calibri Regular" charset="0"/>
              </a:rPr>
              <a:t>‹#›</a:t>
            </a:fld>
            <a:endParaRPr lang="en-US" dirty="0">
              <a:latin typeface="Calibri Regular" charset="0"/>
            </a:endParaRPr>
          </a:p>
        </p:txBody>
      </p:sp>
    </p:spTree>
    <p:extLst>
      <p:ext uri="{BB962C8B-B14F-4D97-AF65-F5344CB8AC3E}">
        <p14:creationId xmlns:p14="http://schemas.microsoft.com/office/powerpoint/2010/main" val="150386224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Calibri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Calibri Regular" charset="0"/>
              </a:defRPr>
            </a:lvl1pPr>
          </a:lstStyle>
          <a:p>
            <a:fld id="{79958FA1-9FE8-F149-AB4B-7DC9950B39E9}" type="datetime6">
              <a:rPr lang="fr-FR" smtClean="0"/>
              <a:pPr/>
              <a:t>novembre 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Calibri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Calibri Regular" charset="0"/>
              </a:defRPr>
            </a:lvl1pPr>
          </a:lstStyle>
          <a:p>
            <a:fld id="{63D2F4DC-CE54-4109-8EF4-A6E1D0DA46F1}" type="slidenum">
              <a:rPr lang="en-US" smtClean="0"/>
              <a:pPr/>
              <a:t>‹#›</a:t>
            </a:fld>
            <a:endParaRPr lang="en-US" dirty="0"/>
          </a:p>
        </p:txBody>
      </p:sp>
    </p:spTree>
    <p:extLst>
      <p:ext uri="{BB962C8B-B14F-4D97-AF65-F5344CB8AC3E}">
        <p14:creationId xmlns:p14="http://schemas.microsoft.com/office/powerpoint/2010/main" val="2834552350"/>
      </p:ext>
    </p:extLst>
  </p:cSld>
  <p:clrMap bg1="lt1" tx1="dk1" bg2="lt2" tx2="dk2" accent1="accent1" accent2="accent2" accent3="accent3" accent4="accent4" accent5="accent5" accent6="accent6" hlink="hlink" folHlink="folHlink"/>
  <p:hf hdr="0" ftr="0"/>
  <p:notesStyle>
    <a:lvl1pPr marL="0" algn="l" defTabSz="914377" rtl="0" eaLnBrk="1" latinLnBrk="0" hangingPunct="1">
      <a:defRPr sz="1200" b="0" i="0" kern="1200">
        <a:solidFill>
          <a:schemeClr val="tx1"/>
        </a:solidFill>
        <a:latin typeface="Calibri Regular" charset="0"/>
        <a:ea typeface="+mn-ea"/>
        <a:cs typeface="+mn-cs"/>
      </a:defRPr>
    </a:lvl1pPr>
    <a:lvl2pPr marL="457189" algn="l" defTabSz="914377" rtl="0" eaLnBrk="1" latinLnBrk="0" hangingPunct="1">
      <a:defRPr sz="1200" b="0" i="0" kern="1200">
        <a:solidFill>
          <a:schemeClr val="tx1"/>
        </a:solidFill>
        <a:latin typeface="Calibri Regular" charset="0"/>
        <a:ea typeface="+mn-ea"/>
        <a:cs typeface="+mn-cs"/>
      </a:defRPr>
    </a:lvl2pPr>
    <a:lvl3pPr marL="914377" algn="l" defTabSz="914377" rtl="0" eaLnBrk="1" latinLnBrk="0" hangingPunct="1">
      <a:defRPr sz="1200" b="0" i="0" kern="1200">
        <a:solidFill>
          <a:schemeClr val="tx1"/>
        </a:solidFill>
        <a:latin typeface="Calibri Regular" charset="0"/>
        <a:ea typeface="+mn-ea"/>
        <a:cs typeface="+mn-cs"/>
      </a:defRPr>
    </a:lvl3pPr>
    <a:lvl4pPr marL="1371566" algn="l" defTabSz="914377" rtl="0" eaLnBrk="1" latinLnBrk="0" hangingPunct="1">
      <a:defRPr sz="1200" b="0" i="0" kern="1200">
        <a:solidFill>
          <a:schemeClr val="tx1"/>
        </a:solidFill>
        <a:latin typeface="Calibri Regular" charset="0"/>
        <a:ea typeface="+mn-ea"/>
        <a:cs typeface="+mn-cs"/>
      </a:defRPr>
    </a:lvl4pPr>
    <a:lvl5pPr marL="1828754" algn="l" defTabSz="914377" rtl="0" eaLnBrk="1" latinLnBrk="0" hangingPunct="1">
      <a:defRPr sz="1200" b="0" i="0" kern="1200">
        <a:solidFill>
          <a:schemeClr val="tx1"/>
        </a:solidFill>
        <a:latin typeface="Calibri Regular"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Red Chapter / Title_subtitle">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aphic Chapter / Title_subtitle">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d Chapter / Title_Subtitle_Number">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d SubChapter / Title ">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cxnSp>
        <p:nvCxnSpPr>
          <p:cNvPr id="8" name="Straight Connector 7"/>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hf hdr="0" ft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 Column / Title_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
        <p:nvSpPr>
          <p:cNvPr id="11" name="Content Placeholder 3"/>
          <p:cNvSpPr>
            <a:spLocks noGrp="1"/>
          </p:cNvSpPr>
          <p:nvPr>
            <p:ph sz="half" idx="2" hasCustomPrompt="1"/>
          </p:nvPr>
        </p:nvSpPr>
        <p:spPr>
          <a:xfrm>
            <a:off x="550862" y="1710203"/>
            <a:ext cx="10129837"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9" name="Straight Connector 8"/>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710206"/>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2286263"/>
            <a:ext cx="10129836" cy="375734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9"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0" name="Straight Connector 9"/>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710203"/>
            <a:ext cx="4999583"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8" name="Content Placeholder 3"/>
          <p:cNvSpPr>
            <a:spLocks noGrp="1"/>
          </p:cNvSpPr>
          <p:nvPr>
            <p:ph sz="half" idx="12" hasCustomPrompt="1"/>
          </p:nvPr>
        </p:nvSpPr>
        <p:spPr>
          <a:xfrm>
            <a:off x="5681117" y="1710203"/>
            <a:ext cx="4999583"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3"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4" name="Straight Connector 13"/>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lumns / Title_Content">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700808"/>
            <a:ext cx="10129837" cy="4333409"/>
          </a:xfrm>
          <a:prstGeom prst="rect">
            <a:avLst/>
          </a:prstGeom>
        </p:spPr>
        <p:txBody>
          <a:bodyPr lIns="90000" numCol="2">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1"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2" name="Straight Connector 11"/>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Column / Title_Subtitle_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2286264"/>
            <a:ext cx="10129837" cy="3757348"/>
          </a:xfrm>
          <a:prstGeom prst="rect">
            <a:avLst/>
          </a:prstGeom>
        </p:spPr>
        <p:txBody>
          <a:bodyPr lIns="90000" numCol="2">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5"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Columns/ Title_Subtitle_Content, Comparison">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2286264"/>
            <a:ext cx="4999583" cy="3757348"/>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1" name="Text Placeholder 2"/>
          <p:cNvSpPr>
            <a:spLocks noGrp="1"/>
          </p:cNvSpPr>
          <p:nvPr>
            <p:ph type="body" idx="14" hasCustomPrompt="1"/>
          </p:nvPr>
        </p:nvSpPr>
        <p:spPr>
          <a:xfrm>
            <a:off x="5684632"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2286264"/>
            <a:ext cx="4999583" cy="3757348"/>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4"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5" name="Straight Connector 14"/>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olumn / Title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710203"/>
            <a:ext cx="10129837" cy="4333409"/>
          </a:xfrm>
          <a:prstGeom prst="rect">
            <a:avLst/>
          </a:prstGeom>
        </p:spPr>
        <p:txBody>
          <a:bodyPr lIns="90000" numCol="3">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 name="TextBox 1"/>
          <p:cNvSpPr txBox="1"/>
          <p:nvPr/>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sp>
        <p:nvSpPr>
          <p:cNvPr id="6"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8" name="Straight Connector 7"/>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710206"/>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2286263"/>
            <a:ext cx="10129836" cy="3757349"/>
          </a:xfrm>
          <a:prstGeom prst="rect">
            <a:avLst/>
          </a:prstGeom>
        </p:spPr>
        <p:txBody>
          <a:bodyPr lIns="90000" numCol="3">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8"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9" name="Straight Connector 8"/>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s / Title, Subtitle,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710206"/>
            <a:ext cx="3007790"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2" name="Content Placeholder 3"/>
          <p:cNvSpPr>
            <a:spLocks noGrp="1"/>
          </p:cNvSpPr>
          <p:nvPr>
            <p:ph sz="half" idx="12" hasCustomPrompt="1"/>
          </p:nvPr>
        </p:nvSpPr>
        <p:spPr>
          <a:xfrm>
            <a:off x="4150863" y="2276872"/>
            <a:ext cx="3025257" cy="3766740"/>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4" name="Content Placeholder 3"/>
          <p:cNvSpPr>
            <a:spLocks noGrp="1"/>
          </p:cNvSpPr>
          <p:nvPr>
            <p:ph sz="half" idx="11" hasCustomPrompt="1"/>
          </p:nvPr>
        </p:nvSpPr>
        <p:spPr>
          <a:xfrm>
            <a:off x="551385" y="2286263"/>
            <a:ext cx="3007792" cy="375734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6" name="Text Placeholder 2"/>
          <p:cNvSpPr>
            <a:spLocks noGrp="1"/>
          </p:cNvSpPr>
          <p:nvPr>
            <p:ph type="body" idx="13" hasCustomPrompt="1"/>
          </p:nvPr>
        </p:nvSpPr>
        <p:spPr>
          <a:xfrm>
            <a:off x="4147113" y="1710206"/>
            <a:ext cx="3029007"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7" name="Content Placeholder 3"/>
          <p:cNvSpPr>
            <a:spLocks noGrp="1"/>
          </p:cNvSpPr>
          <p:nvPr>
            <p:ph sz="half" idx="14" hasCustomPrompt="1"/>
          </p:nvPr>
        </p:nvSpPr>
        <p:spPr>
          <a:xfrm>
            <a:off x="7680325" y="2276871"/>
            <a:ext cx="3000375" cy="3766741"/>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9" name="Text Placeholder 2"/>
          <p:cNvSpPr>
            <a:spLocks noGrp="1"/>
          </p:cNvSpPr>
          <p:nvPr>
            <p:ph type="body" idx="15" hasCustomPrompt="1"/>
          </p:nvPr>
        </p:nvSpPr>
        <p:spPr>
          <a:xfrm>
            <a:off x="7680325" y="1710206"/>
            <a:ext cx="3007219"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cxnSp>
        <p:nvCxnSpPr>
          <p:cNvPr id="13" name="Straight Connector 12"/>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A2D8ED5F-97DF-CD4F-B60F-9FF9C09C7F14}"/>
              </a:ext>
            </a:extLst>
          </p:cNvPr>
          <p:cNvSpPr/>
          <p:nvPr userDrawn="1"/>
        </p:nvSpPr>
        <p:spPr>
          <a:xfrm>
            <a:off x="819269" y="1113095"/>
            <a:ext cx="10798402" cy="5101808"/>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a:latin typeface="Source Sans Pro Light" panose="020B0403030403020204" pitchFamily="34" charset="0"/>
                <a:ea typeface="Source Sans Pro Light" panose="020B0403030403020204" pitchFamily="34" charset="0"/>
              </a:rPr>
              <a:t>v</a:t>
            </a:r>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ntroduce Page">
    <p:spTree>
      <p:nvGrpSpPr>
        <p:cNvPr id="1" name=""/>
        <p:cNvGrpSpPr/>
        <p:nvPr/>
      </p:nvGrpSpPr>
      <p:grpSpPr>
        <a:xfrm>
          <a:off x="0" y="0"/>
          <a:ext cx="0" cy="0"/>
          <a:chOff x="0" y="0"/>
          <a:chExt cx="0" cy="0"/>
        </a:xfrm>
      </p:grpSpPr>
      <p:cxnSp>
        <p:nvCxnSpPr>
          <p:cNvPr id="5" name="Straight Connector 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gal - Disclaimer">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en-US" sz="2400" dirty="0"/>
              <a:t>DISCLAIMER</a:t>
            </a:r>
          </a:p>
        </p:txBody>
      </p:sp>
      <p:sp>
        <p:nvSpPr>
          <p:cNvPr id="10" name="TextBox 9"/>
          <p:cNvSpPr txBox="1"/>
          <p:nvPr/>
        </p:nvSpPr>
        <p:spPr>
          <a:xfrm>
            <a:off x="1031082" y="2479536"/>
            <a:ext cx="10129837" cy="267765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proprietary under copyright Law of Industrial Smart Software Technology (IS2T S.A.) operating under the brand name </a:t>
            </a:r>
            <a:r>
              <a:rPr lang="en-US" sz="1400" b="0" i="0" spc="0" dirty="0" err="1">
                <a:ln>
                  <a:noFill/>
                </a:ln>
                <a:solidFill>
                  <a:schemeClr val="tx2"/>
                </a:solidFill>
                <a:latin typeface="Source Sans Pro Light" charset="0"/>
                <a:ea typeface="Source Sans Pro Light" charset="0"/>
                <a:cs typeface="Source Sans Pro Light" charset="0"/>
              </a:rPr>
              <a:t>MicroEJ</a:t>
            </a:r>
            <a:r>
              <a:rPr lang="en-US" sz="1400" b="0" i="0" spc="0" dirty="0">
                <a:ln>
                  <a:noFill/>
                </a:ln>
                <a:solidFill>
                  <a:schemeClr val="tx2"/>
                </a:solidFill>
                <a:latin typeface="Source Sans Pro Light" charset="0"/>
                <a:ea typeface="Source Sans Pro Light" charset="0"/>
                <a:cs typeface="Source Sans Pro Light" charset="0"/>
              </a:rPr>
              <a:t>®. Without written permission from IS2T S.A., copying or sending parts of the document or the entire document by any means to third parties is not permitted. Granted authorizations for using parts of the document or the entire document do not mean IS2T S.A. gives public full access rights.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IS2T® and </a:t>
            </a:r>
            <a:r>
              <a:rPr lang="en-US" sz="1400" b="0" i="0" spc="0" dirty="0" err="1">
                <a:ln>
                  <a:noFill/>
                </a:ln>
                <a:solidFill>
                  <a:schemeClr val="tx2"/>
                </a:solidFill>
                <a:latin typeface="Source Sans Pro Light" charset="0"/>
                <a:ea typeface="Source Sans Pro Light" charset="0"/>
                <a:cs typeface="Source Sans Pro Light" charset="0"/>
              </a:rPr>
              <a:t>MicroEJ</a:t>
            </a:r>
            <a:r>
              <a:rPr lang="en-US" sz="1400" b="0" i="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spc="0" dirty="0" err="1">
                <a:ln>
                  <a:noFill/>
                </a:ln>
                <a:solidFill>
                  <a:schemeClr val="tx2"/>
                </a:solidFill>
                <a:latin typeface="Source Sans Pro Light" charset="0"/>
                <a:ea typeface="Source Sans Pro Light" charset="0"/>
                <a:cs typeface="Source Sans Pro Light" charset="0"/>
              </a:rPr>
              <a:t>Inc</a:t>
            </a:r>
            <a:r>
              <a:rPr lang="en-US" sz="1400" b="0" i="0" spc="0" dirty="0">
                <a:ln>
                  <a:noFill/>
                </a:ln>
                <a:solidFill>
                  <a:schemeClr val="tx2"/>
                </a:solidFill>
                <a:latin typeface="Source Sans Pro Light" charset="0"/>
                <a:ea typeface="Source Sans Pro Light" charset="0"/>
                <a:cs typeface="Source Sans Pro Light" charset="0"/>
              </a:rPr>
              <a:t>, in the United States and other Countries.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cxnSp>
        <p:nvCxnSpPr>
          <p:cNvPr id="11" name="Straight Connector 10"/>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sp>
        <p:nvSpPr>
          <p:cNvPr id="12" name="TextBox 11"/>
          <p:cNvSpPr txBox="1"/>
          <p:nvPr/>
        </p:nvSpPr>
        <p:spPr>
          <a:xfrm>
            <a:off x="1031082" y="2479536"/>
            <a:ext cx="10129837" cy="2677656"/>
          </a:xfrm>
          <a:prstGeom prst="rect">
            <a:avLst/>
          </a:prstGeom>
          <a:noFill/>
        </p:spPr>
        <p:txBody>
          <a:bodyPr vert="horz" wrap="square" lIns="0" tIns="0" rIns="0" bIns="0" numCol="1" spcCol="288000" rtlCol="0" anchor="t" anchorCtr="0">
            <a:spAutoFit/>
          </a:bodyPr>
          <a:lstStyle/>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(IS2T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IS2T S.A., copying or sending parts of the document or the entire document by any means to third parties is not permitted. Granted authorizations for using parts of the document or the entire document do not mean IS2T S.A. gives public full access rights.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END Slider">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2187326"/>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063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84481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382953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28" r:id="rId20"/>
    <p:sldLayoutId id="214748373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07">
          <p15:clr>
            <a:srgbClr val="F26B43"/>
          </p15:clr>
        </p15:guide>
        <p15:guide id="2" pos="7333">
          <p15:clr>
            <a:srgbClr val="F26B43"/>
          </p15:clr>
        </p15:guide>
        <p15:guide id="3" pos="347">
          <p15:clr>
            <a:srgbClr val="F26B43"/>
          </p15:clr>
        </p15:guide>
        <p15:guide id="4" orient="horz" pos="40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20E2A31-5FD5-ED4B-B020-689CF27FF04D}"/>
              </a:ext>
            </a:extLst>
          </p:cNvPr>
          <p:cNvGrpSpPr/>
          <p:nvPr/>
        </p:nvGrpSpPr>
        <p:grpSpPr>
          <a:xfrm>
            <a:off x="1971071" y="1331794"/>
            <a:ext cx="6094754" cy="4803002"/>
            <a:chOff x="1971071" y="1331794"/>
            <a:chExt cx="6094754" cy="4803002"/>
          </a:xfrm>
        </p:grpSpPr>
        <p:sp>
          <p:nvSpPr>
            <p:cNvPr id="69" name="Rounded Rectangle 68">
              <a:extLst>
                <a:ext uri="{FF2B5EF4-FFF2-40B4-BE49-F238E27FC236}">
                  <a16:creationId xmlns:a16="http://schemas.microsoft.com/office/drawing/2014/main" id="{7EF95408-CCE5-5C43-A82E-B8DADE014A0B}"/>
                </a:ext>
              </a:extLst>
            </p:cNvPr>
            <p:cNvSpPr/>
            <p:nvPr/>
          </p:nvSpPr>
          <p:spPr>
            <a:xfrm>
              <a:off x="1971813" y="1331794"/>
              <a:ext cx="4017119" cy="468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a:latin typeface="Source Sans Pro Light" panose="020B0403030403020204" pitchFamily="34" charset="0"/>
                  <a:ea typeface="Source Sans Pro Light" panose="020B0403030403020204" pitchFamily="34" charset="0"/>
                </a:rPr>
                <a:t>Application Code Source Project</a:t>
              </a:r>
            </a:p>
          </p:txBody>
        </p:sp>
        <p:sp>
          <p:nvSpPr>
            <p:cNvPr id="75" name="Rounded Rectangle 74">
              <a:extLst>
                <a:ext uri="{FF2B5EF4-FFF2-40B4-BE49-F238E27FC236}">
                  <a16:creationId xmlns:a16="http://schemas.microsoft.com/office/drawing/2014/main" id="{10336C71-ABA9-D445-9977-4AB170735818}"/>
                </a:ext>
              </a:extLst>
            </p:cNvPr>
            <p:cNvSpPr/>
            <p:nvPr/>
          </p:nvSpPr>
          <p:spPr>
            <a:xfrm>
              <a:off x="6126888" y="1331794"/>
              <a:ext cx="1938937" cy="1375054"/>
            </a:xfrm>
            <a:prstGeom prst="roundRect">
              <a:avLst>
                <a:gd name="adj" fmla="val 562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a:latin typeface="Source Sans Pro Light" panose="020B0403030403020204" pitchFamily="34" charset="0"/>
                  <a:ea typeface="Source Sans Pro Light" panose="020B0403030403020204" pitchFamily="34" charset="0"/>
                </a:rPr>
                <a:t>Libraries </a:t>
              </a:r>
              <a:br>
                <a:rPr lang="en-FR" sz="1200">
                  <a:latin typeface="Source Sans Pro Light" panose="020B0403030403020204" pitchFamily="34" charset="0"/>
                  <a:ea typeface="Source Sans Pro Light" panose="020B0403030403020204" pitchFamily="34" charset="0"/>
                </a:rPr>
              </a:br>
              <a:r>
                <a:rPr lang="en-FR" sz="1200">
                  <a:latin typeface="Source Sans Pro Light" panose="020B0403030403020204" pitchFamily="34" charset="0"/>
                  <a:ea typeface="Source Sans Pro Light" panose="020B0403030403020204" pitchFamily="34" charset="0"/>
                </a:rPr>
                <a:t>&amp;</a:t>
              </a:r>
              <a:br>
                <a:rPr lang="en-FR" sz="1200">
                  <a:latin typeface="Source Sans Pro Light" panose="020B0403030403020204" pitchFamily="34" charset="0"/>
                  <a:ea typeface="Source Sans Pro Light" panose="020B0403030403020204" pitchFamily="34" charset="0"/>
                </a:rPr>
              </a:br>
              <a:r>
                <a:rPr lang="en-FR" sz="1200">
                  <a:latin typeface="Source Sans Pro Light" panose="020B0403030403020204" pitchFamily="34" charset="0"/>
                  <a:ea typeface="Source Sans Pro Light" panose="020B0403030403020204" pitchFamily="34" charset="0"/>
                </a:rPr>
                <a:t>Dependencies</a:t>
              </a:r>
              <a:br>
                <a:rPr lang="en-FR" sz="1200">
                  <a:latin typeface="Source Sans Pro Light" panose="020B0403030403020204" pitchFamily="34" charset="0"/>
                  <a:ea typeface="Source Sans Pro Light" panose="020B0403030403020204" pitchFamily="34" charset="0"/>
                </a:rPr>
              </a:br>
              <a:br>
                <a:rPr lang="en-FR" sz="1200">
                  <a:latin typeface="Source Sans Pro Light" panose="020B0403030403020204" pitchFamily="34" charset="0"/>
                  <a:ea typeface="Source Sans Pro Light" panose="020B0403030403020204" pitchFamily="34" charset="0"/>
                </a:rPr>
              </a:br>
              <a:r>
                <a:rPr lang="en-FR" sz="1000">
                  <a:latin typeface="Source Sans Pro Light" panose="020B0403030403020204" pitchFamily="34" charset="0"/>
                  <a:ea typeface="Source Sans Pro Light" panose="020B0403030403020204" pitchFamily="34" charset="0"/>
                </a:rPr>
                <a:t>(including Third Party code)</a:t>
              </a:r>
            </a:p>
          </p:txBody>
        </p:sp>
        <p:sp>
          <p:nvSpPr>
            <p:cNvPr id="76" name="Rounded Rectangle 75">
              <a:extLst>
                <a:ext uri="{FF2B5EF4-FFF2-40B4-BE49-F238E27FC236}">
                  <a16:creationId xmlns:a16="http://schemas.microsoft.com/office/drawing/2014/main" id="{67655167-FAC8-AE44-AFCC-BCDAA67C0566}"/>
                </a:ext>
              </a:extLst>
            </p:cNvPr>
            <p:cNvSpPr/>
            <p:nvPr/>
          </p:nvSpPr>
          <p:spPr>
            <a:xfrm>
              <a:off x="4049995" y="2246072"/>
              <a:ext cx="1938937" cy="468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a:latin typeface="Source Sans Pro Light" panose="020B0403030403020204" pitchFamily="34" charset="0"/>
                  <a:ea typeface="Source Sans Pro Light" panose="020B0403030403020204" pitchFamily="34" charset="0"/>
                </a:rPr>
                <a:t>Java Compiler (JDT)</a:t>
              </a:r>
            </a:p>
          </p:txBody>
        </p:sp>
        <p:grpSp>
          <p:nvGrpSpPr>
            <p:cNvPr id="85" name="Group 84">
              <a:extLst>
                <a:ext uri="{FF2B5EF4-FFF2-40B4-BE49-F238E27FC236}">
                  <a16:creationId xmlns:a16="http://schemas.microsoft.com/office/drawing/2014/main" id="{C405F09D-2EFA-8B49-8147-4C79C219B4C3}"/>
                </a:ext>
              </a:extLst>
            </p:cNvPr>
            <p:cNvGrpSpPr/>
            <p:nvPr/>
          </p:nvGrpSpPr>
          <p:grpSpPr>
            <a:xfrm>
              <a:off x="1971071" y="3152790"/>
              <a:ext cx="6094754" cy="802949"/>
              <a:chOff x="-326297" y="3087823"/>
              <a:chExt cx="6094754" cy="802949"/>
            </a:xfrm>
          </p:grpSpPr>
          <p:sp>
            <p:nvSpPr>
              <p:cNvPr id="77" name="Rounded Rectangle 76">
                <a:extLst>
                  <a:ext uri="{FF2B5EF4-FFF2-40B4-BE49-F238E27FC236}">
                    <a16:creationId xmlns:a16="http://schemas.microsoft.com/office/drawing/2014/main" id="{C7337B04-2AE0-1141-BA5F-FE855BE97A69}"/>
                  </a:ext>
                </a:extLst>
              </p:cNvPr>
              <p:cNvSpPr/>
              <p:nvPr/>
            </p:nvSpPr>
            <p:spPr>
              <a:xfrm>
                <a:off x="-326297" y="3422772"/>
                <a:ext cx="6094754" cy="468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tlCol="0" anchor="ctr"/>
              <a:lstStyle/>
              <a:p>
                <a:pPr algn="ctr"/>
                <a:br>
                  <a:rPr lang="en-FR" sz="1200">
                    <a:latin typeface="Source Sans Pro Light" panose="020B0403030403020204" pitchFamily="34" charset="0"/>
                    <a:ea typeface="Source Sans Pro Light" panose="020B0403030403020204" pitchFamily="34" charset="0"/>
                  </a:rPr>
                </a:br>
                <a:r>
                  <a:rPr lang="en-FR" sz="1200">
                    <a:latin typeface="Source Sans Pro Light" panose="020B0403030403020204" pitchFamily="34" charset="0"/>
                    <a:ea typeface="Source Sans Pro Light" panose="020B0403030403020204" pitchFamily="34" charset="0"/>
                  </a:rPr>
                  <a:t>SOAR</a:t>
                </a:r>
              </a:p>
            </p:txBody>
          </p:sp>
          <p:sp>
            <p:nvSpPr>
              <p:cNvPr id="78" name="Rounded Rectangle 77">
                <a:extLst>
                  <a:ext uri="{FF2B5EF4-FFF2-40B4-BE49-F238E27FC236}">
                    <a16:creationId xmlns:a16="http://schemas.microsoft.com/office/drawing/2014/main" id="{92A85FC9-458D-D543-AEF5-69D4BFFB716E}"/>
                  </a:ext>
                </a:extLst>
              </p:cNvPr>
              <p:cNvSpPr/>
              <p:nvPr/>
            </p:nvSpPr>
            <p:spPr>
              <a:xfrm>
                <a:off x="5272" y="3087823"/>
                <a:ext cx="5561904" cy="468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a:latin typeface="Source Sans Pro Light" panose="020B0403030403020204" pitchFamily="34" charset="0"/>
                    <a:ea typeface="Source Sans Pro Light" panose="020B0403030403020204" pitchFamily="34" charset="0"/>
                  </a:rPr>
                  <a:t>Binary Code Verifier</a:t>
                </a:r>
              </a:p>
            </p:txBody>
          </p:sp>
          <p:pic>
            <p:nvPicPr>
              <p:cNvPr id="79" name="Picture 78">
                <a:extLst>
                  <a:ext uri="{FF2B5EF4-FFF2-40B4-BE49-F238E27FC236}">
                    <a16:creationId xmlns:a16="http://schemas.microsoft.com/office/drawing/2014/main" id="{A3734192-CC61-3046-A201-A2D4BA0C1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27" y="3120060"/>
                <a:ext cx="322936" cy="397462"/>
              </a:xfrm>
              <a:prstGeom prst="rect">
                <a:avLst/>
              </a:prstGeom>
            </p:spPr>
          </p:pic>
        </p:grpSp>
        <p:pic>
          <p:nvPicPr>
            <p:cNvPr id="82" name="Picture 81">
              <a:extLst>
                <a:ext uri="{FF2B5EF4-FFF2-40B4-BE49-F238E27FC236}">
                  <a16:creationId xmlns:a16="http://schemas.microsoft.com/office/drawing/2014/main" id="{F957ED5B-A5BB-5942-BD93-AE85CFA70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6034" y="4909742"/>
              <a:ext cx="904827" cy="912095"/>
            </a:xfrm>
            <a:prstGeom prst="rect">
              <a:avLst/>
            </a:prstGeom>
          </p:spPr>
        </p:pic>
        <p:sp>
          <p:nvSpPr>
            <p:cNvPr id="84" name="Rounded Rectangle 83">
              <a:extLst>
                <a:ext uri="{FF2B5EF4-FFF2-40B4-BE49-F238E27FC236}">
                  <a16:creationId xmlns:a16="http://schemas.microsoft.com/office/drawing/2014/main" id="{57DAC778-CD92-1043-AA91-A4D0921F454B}"/>
                </a:ext>
              </a:extLst>
            </p:cNvPr>
            <p:cNvSpPr/>
            <p:nvPr/>
          </p:nvSpPr>
          <p:spPr>
            <a:xfrm>
              <a:off x="4372931" y="5828796"/>
              <a:ext cx="1519051" cy="306000"/>
            </a:xfrm>
            <a:prstGeom prst="roundRect">
              <a:avLst>
                <a:gd name="adj" fmla="val 0"/>
              </a:avLst>
            </a:prstGeom>
            <a:no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r>
                <a:rPr lang="en-US" sz="1600" b="1" dirty="0">
                  <a:solidFill>
                    <a:schemeClr val="tx1"/>
                  </a:solidFill>
                  <a:latin typeface="Source Sans Pro" panose="020B0503030403020204" pitchFamily="34" charset="0"/>
                  <a:ea typeface="Source Sans Pro" panose="020B0503030403020204" pitchFamily="34" charset="0"/>
                </a:rPr>
                <a:t>Core Engine</a:t>
              </a:r>
            </a:p>
          </p:txBody>
        </p:sp>
        <p:sp>
          <p:nvSpPr>
            <p:cNvPr id="88" name="TextBox 87">
              <a:extLst>
                <a:ext uri="{FF2B5EF4-FFF2-40B4-BE49-F238E27FC236}">
                  <a16:creationId xmlns:a16="http://schemas.microsoft.com/office/drawing/2014/main" id="{04249D41-7465-E64D-9755-6FB608D66201}"/>
                </a:ext>
              </a:extLst>
            </p:cNvPr>
            <p:cNvSpPr txBox="1"/>
            <p:nvPr/>
          </p:nvSpPr>
          <p:spPr>
            <a:xfrm>
              <a:off x="5096050" y="1973662"/>
              <a:ext cx="1187797" cy="226591"/>
            </a:xfrm>
            <a:prstGeom prst="rect">
              <a:avLst/>
            </a:prstGeom>
            <a:noFill/>
          </p:spPr>
          <p:txBody>
            <a:bodyPr wrap="square" lIns="36000" tIns="36000" rIns="36000" bIns="36000" rtlCol="0">
              <a:spAutoFit/>
            </a:bodyPr>
            <a:lstStyle/>
            <a:p>
              <a:r>
                <a:rPr lang="en-US" sz="1000" dirty="0">
                  <a:latin typeface="Source Sans Pro Light" charset="0"/>
                </a:rPr>
                <a:t> (*.java)</a:t>
              </a:r>
            </a:p>
          </p:txBody>
        </p:sp>
        <p:cxnSp>
          <p:nvCxnSpPr>
            <p:cNvPr id="89" name="Straight Arrow Connector 88">
              <a:extLst>
                <a:ext uri="{FF2B5EF4-FFF2-40B4-BE49-F238E27FC236}">
                  <a16:creationId xmlns:a16="http://schemas.microsoft.com/office/drawing/2014/main" id="{5859B60E-48A4-D64C-9085-C8CAA8E27FAA}"/>
                </a:ext>
              </a:extLst>
            </p:cNvPr>
            <p:cNvCxnSpPr>
              <a:cxnSpLocks/>
              <a:stCxn id="76" idx="2"/>
            </p:cNvCxnSpPr>
            <p:nvPr/>
          </p:nvCxnSpPr>
          <p:spPr>
            <a:xfrm>
              <a:off x="5019464" y="2714072"/>
              <a:ext cx="0" cy="4357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C8E2C7BC-CC03-E54F-82E5-9AD9DA75AB6A}"/>
                </a:ext>
              </a:extLst>
            </p:cNvPr>
            <p:cNvSpPr txBox="1"/>
            <p:nvPr/>
          </p:nvSpPr>
          <p:spPr>
            <a:xfrm>
              <a:off x="5096050" y="2894998"/>
              <a:ext cx="1187797" cy="226591"/>
            </a:xfrm>
            <a:prstGeom prst="rect">
              <a:avLst/>
            </a:prstGeom>
            <a:noFill/>
          </p:spPr>
          <p:txBody>
            <a:bodyPr wrap="square" lIns="36000" tIns="36000" rIns="36000" bIns="36000" rtlCol="0">
              <a:spAutoFit/>
            </a:bodyPr>
            <a:lstStyle/>
            <a:p>
              <a:r>
                <a:rPr lang="en-US" sz="1000" dirty="0">
                  <a:latin typeface="Source Sans Pro Light" charset="0"/>
                </a:rPr>
                <a:t> (*. class)</a:t>
              </a:r>
            </a:p>
          </p:txBody>
        </p:sp>
        <p:cxnSp>
          <p:nvCxnSpPr>
            <p:cNvPr id="91" name="Straight Arrow Connector 90">
              <a:extLst>
                <a:ext uri="{FF2B5EF4-FFF2-40B4-BE49-F238E27FC236}">
                  <a16:creationId xmlns:a16="http://schemas.microsoft.com/office/drawing/2014/main" id="{03FFA56A-7A57-6B41-BFA5-600540C4E397}"/>
                </a:ext>
              </a:extLst>
            </p:cNvPr>
            <p:cNvCxnSpPr>
              <a:cxnSpLocks/>
              <a:stCxn id="75" idx="2"/>
            </p:cNvCxnSpPr>
            <p:nvPr/>
          </p:nvCxnSpPr>
          <p:spPr>
            <a:xfrm>
              <a:off x="7096357" y="2706848"/>
              <a:ext cx="0" cy="44656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2" name="TextBox 91">
              <a:extLst>
                <a:ext uri="{FF2B5EF4-FFF2-40B4-BE49-F238E27FC236}">
                  <a16:creationId xmlns:a16="http://schemas.microsoft.com/office/drawing/2014/main" id="{B1A80095-69B9-3245-98F7-5804E34E5199}"/>
                </a:ext>
              </a:extLst>
            </p:cNvPr>
            <p:cNvSpPr txBox="1"/>
            <p:nvPr/>
          </p:nvSpPr>
          <p:spPr>
            <a:xfrm>
              <a:off x="7153914" y="2912674"/>
              <a:ext cx="754954" cy="226591"/>
            </a:xfrm>
            <a:prstGeom prst="rect">
              <a:avLst/>
            </a:prstGeom>
            <a:noFill/>
          </p:spPr>
          <p:txBody>
            <a:bodyPr wrap="square" lIns="36000" tIns="36000" rIns="36000" bIns="36000" rtlCol="0">
              <a:spAutoFit/>
            </a:bodyPr>
            <a:lstStyle/>
            <a:p>
              <a:r>
                <a:rPr lang="en-US" sz="1000" dirty="0">
                  <a:latin typeface="Source Sans Pro Light" charset="0"/>
                </a:rPr>
                <a:t> (*. jar)</a:t>
              </a:r>
            </a:p>
          </p:txBody>
        </p:sp>
        <p:cxnSp>
          <p:nvCxnSpPr>
            <p:cNvPr id="93" name="Straight Arrow Connector 92">
              <a:extLst>
                <a:ext uri="{FF2B5EF4-FFF2-40B4-BE49-F238E27FC236}">
                  <a16:creationId xmlns:a16="http://schemas.microsoft.com/office/drawing/2014/main" id="{E233C7CE-4DDD-544F-BD45-BB04A79F4AF9}"/>
                </a:ext>
              </a:extLst>
            </p:cNvPr>
            <p:cNvCxnSpPr>
              <a:cxnSpLocks/>
              <a:stCxn id="77" idx="2"/>
              <a:endCxn id="95" idx="0"/>
            </p:cNvCxnSpPr>
            <p:nvPr/>
          </p:nvCxnSpPr>
          <p:spPr>
            <a:xfrm flipH="1">
              <a:off x="5018447" y="3955739"/>
              <a:ext cx="1" cy="46889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4" name="TextBox 93">
              <a:extLst>
                <a:ext uri="{FF2B5EF4-FFF2-40B4-BE49-F238E27FC236}">
                  <a16:creationId xmlns:a16="http://schemas.microsoft.com/office/drawing/2014/main" id="{AA774968-19E9-EE40-9010-2FE2A7C80158}"/>
                </a:ext>
              </a:extLst>
            </p:cNvPr>
            <p:cNvSpPr txBox="1"/>
            <p:nvPr/>
          </p:nvSpPr>
          <p:spPr>
            <a:xfrm>
              <a:off x="5096050" y="4174405"/>
              <a:ext cx="1862428" cy="226591"/>
            </a:xfrm>
            <a:prstGeom prst="rect">
              <a:avLst/>
            </a:prstGeom>
            <a:noFill/>
          </p:spPr>
          <p:txBody>
            <a:bodyPr wrap="square" lIns="36000" tIns="36000" rIns="36000" bIns="36000" rtlCol="0">
              <a:spAutoFit/>
            </a:bodyPr>
            <a:lstStyle/>
            <a:p>
              <a:r>
                <a:rPr lang="en-US" sz="1000" dirty="0">
                  <a:latin typeface="Source Sans Pro Light" charset="0"/>
                </a:rPr>
                <a:t> (microejapp.o / application.fo)</a:t>
              </a:r>
            </a:p>
          </p:txBody>
        </p:sp>
        <p:sp>
          <p:nvSpPr>
            <p:cNvPr id="95" name="TextBox 94">
              <a:extLst>
                <a:ext uri="{FF2B5EF4-FFF2-40B4-BE49-F238E27FC236}">
                  <a16:creationId xmlns:a16="http://schemas.microsoft.com/office/drawing/2014/main" id="{EB39FD33-CE5B-154B-A083-D9DA365B435A}"/>
                </a:ext>
              </a:extLst>
            </p:cNvPr>
            <p:cNvSpPr txBox="1"/>
            <p:nvPr/>
          </p:nvSpPr>
          <p:spPr>
            <a:xfrm>
              <a:off x="4087233" y="4424638"/>
              <a:ext cx="1862428" cy="288147"/>
            </a:xfrm>
            <a:prstGeom prst="rect">
              <a:avLst/>
            </a:prstGeom>
            <a:noFill/>
          </p:spPr>
          <p:txBody>
            <a:bodyPr wrap="square" lIns="36000" tIns="36000" rIns="36000" bIns="36000" rtlCol="0">
              <a:spAutoFit/>
            </a:bodyPr>
            <a:lstStyle/>
            <a:p>
              <a:pPr algn="ctr"/>
              <a:r>
                <a:rPr lang="en-US" sz="1400" dirty="0">
                  <a:latin typeface="Source Sans Pro Light" charset="0"/>
                </a:rPr>
                <a:t>Safe Runtime Execution</a:t>
              </a:r>
            </a:p>
          </p:txBody>
        </p:sp>
        <p:cxnSp>
          <p:nvCxnSpPr>
            <p:cNvPr id="104" name="Straight Arrow Connector 103">
              <a:extLst>
                <a:ext uri="{FF2B5EF4-FFF2-40B4-BE49-F238E27FC236}">
                  <a16:creationId xmlns:a16="http://schemas.microsoft.com/office/drawing/2014/main" id="{B711DDF6-00D6-374B-AA5D-4DFB9AEF0537}"/>
                </a:ext>
              </a:extLst>
            </p:cNvPr>
            <p:cNvCxnSpPr>
              <a:cxnSpLocks/>
            </p:cNvCxnSpPr>
            <p:nvPr/>
          </p:nvCxnSpPr>
          <p:spPr>
            <a:xfrm>
              <a:off x="5019464" y="1767584"/>
              <a:ext cx="0" cy="468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3" name="Rounded Rectangle 22">
              <a:extLst>
                <a:ext uri="{FF2B5EF4-FFF2-40B4-BE49-F238E27FC236}">
                  <a16:creationId xmlns:a16="http://schemas.microsoft.com/office/drawing/2014/main" id="{FA6BE396-0287-0A42-A4D0-88275C4FAB59}"/>
                </a:ext>
              </a:extLst>
            </p:cNvPr>
            <p:cNvSpPr/>
            <p:nvPr/>
          </p:nvSpPr>
          <p:spPr>
            <a:xfrm>
              <a:off x="1971813" y="2246072"/>
              <a:ext cx="1938937" cy="468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200" dirty="0">
                  <a:latin typeface="Source Sans Pro Light" panose="020B0403030403020204" pitchFamily="34" charset="0"/>
                  <a:ea typeface="Source Sans Pro Light" panose="020B0403030403020204" pitchFamily="34" charset="0"/>
                </a:rPr>
                <a:t>C Compiler</a:t>
              </a:r>
              <a:r>
                <a:rPr lang="en-US" sz="1200" dirty="0">
                  <a:latin typeface="Source Sans Pro Light" panose="020B0403030403020204" pitchFamily="34" charset="0"/>
                  <a:ea typeface="Source Sans Pro Light" panose="020B0403030403020204" pitchFamily="34" charset="0"/>
                </a:rPr>
                <a:t> (WASI SDK)</a:t>
              </a:r>
              <a:endParaRPr lang="en-FR" sz="1200" dirty="0">
                <a:latin typeface="Source Sans Pro Light" panose="020B0403030403020204" pitchFamily="34" charset="0"/>
                <a:ea typeface="Source Sans Pro Light" panose="020B0403030403020204" pitchFamily="34" charset="0"/>
              </a:endParaRPr>
            </a:p>
          </p:txBody>
        </p:sp>
        <p:cxnSp>
          <p:nvCxnSpPr>
            <p:cNvPr id="24" name="Straight Arrow Connector 23">
              <a:extLst>
                <a:ext uri="{FF2B5EF4-FFF2-40B4-BE49-F238E27FC236}">
                  <a16:creationId xmlns:a16="http://schemas.microsoft.com/office/drawing/2014/main" id="{34157708-4BB4-1D4A-A362-651F506D41D1}"/>
                </a:ext>
              </a:extLst>
            </p:cNvPr>
            <p:cNvCxnSpPr>
              <a:cxnSpLocks/>
              <a:stCxn id="23" idx="2"/>
            </p:cNvCxnSpPr>
            <p:nvPr/>
          </p:nvCxnSpPr>
          <p:spPr>
            <a:xfrm>
              <a:off x="2941282" y="2714072"/>
              <a:ext cx="0" cy="4357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3B05F20-0E66-5F45-AC4A-83CAEB390C4E}"/>
                </a:ext>
              </a:extLst>
            </p:cNvPr>
            <p:cNvCxnSpPr>
              <a:cxnSpLocks/>
            </p:cNvCxnSpPr>
            <p:nvPr/>
          </p:nvCxnSpPr>
          <p:spPr>
            <a:xfrm>
              <a:off x="2941282" y="1799794"/>
              <a:ext cx="0" cy="4357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81802046-0D2D-9A49-94B2-896BDCC98A28}"/>
                </a:ext>
              </a:extLst>
            </p:cNvPr>
            <p:cNvSpPr txBox="1"/>
            <p:nvPr/>
          </p:nvSpPr>
          <p:spPr>
            <a:xfrm>
              <a:off x="2992930" y="1973662"/>
              <a:ext cx="1187797" cy="226591"/>
            </a:xfrm>
            <a:prstGeom prst="rect">
              <a:avLst/>
            </a:prstGeom>
            <a:noFill/>
          </p:spPr>
          <p:txBody>
            <a:bodyPr wrap="square" lIns="36000" tIns="36000" rIns="36000" bIns="36000" rtlCol="0">
              <a:spAutoFit/>
            </a:bodyPr>
            <a:lstStyle/>
            <a:p>
              <a:r>
                <a:rPr lang="en-US" sz="1000" dirty="0">
                  <a:latin typeface="Source Sans Pro Light" charset="0"/>
                </a:rPr>
                <a:t> (*.c)</a:t>
              </a:r>
            </a:p>
          </p:txBody>
        </p:sp>
        <p:sp>
          <p:nvSpPr>
            <p:cNvPr id="29" name="TextBox 28">
              <a:extLst>
                <a:ext uri="{FF2B5EF4-FFF2-40B4-BE49-F238E27FC236}">
                  <a16:creationId xmlns:a16="http://schemas.microsoft.com/office/drawing/2014/main" id="{1431D41E-F1EB-EC4B-ACC2-599002CFBA96}"/>
                </a:ext>
              </a:extLst>
            </p:cNvPr>
            <p:cNvSpPr txBox="1"/>
            <p:nvPr/>
          </p:nvSpPr>
          <p:spPr>
            <a:xfrm>
              <a:off x="2992930" y="2894998"/>
              <a:ext cx="1187797" cy="226591"/>
            </a:xfrm>
            <a:prstGeom prst="rect">
              <a:avLst/>
            </a:prstGeom>
            <a:noFill/>
          </p:spPr>
          <p:txBody>
            <a:bodyPr wrap="square" lIns="36000" tIns="36000" rIns="36000" bIns="36000" rtlCol="0">
              <a:spAutoFit/>
            </a:bodyPr>
            <a:lstStyle/>
            <a:p>
              <a:r>
                <a:rPr lang="en-US" sz="1000" dirty="0">
                  <a:latin typeface="Source Sans Pro Light" charset="0"/>
                </a:rPr>
                <a:t> (*. wasm)</a:t>
              </a:r>
            </a:p>
          </p:txBody>
        </p:sp>
      </p:grpSp>
      <p:cxnSp>
        <p:nvCxnSpPr>
          <p:cNvPr id="34" name="Straight Connector 33">
            <a:extLst>
              <a:ext uri="{FF2B5EF4-FFF2-40B4-BE49-F238E27FC236}">
                <a16:creationId xmlns:a16="http://schemas.microsoft.com/office/drawing/2014/main" id="{7C1B1633-6D9D-5148-99A9-281F790EC7A9}"/>
              </a:ext>
            </a:extLst>
          </p:cNvPr>
          <p:cNvCxnSpPr/>
          <p:nvPr/>
        </p:nvCxnSpPr>
        <p:spPr>
          <a:xfrm>
            <a:off x="839416" y="973732"/>
            <a:ext cx="956858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325031"/>
      </p:ext>
    </p:extLst>
  </p:cSld>
  <p:clrMapOvr>
    <a:masterClrMapping/>
  </p:clrMapOvr>
</p:sld>
</file>

<file path=ppt/theme/theme1.xml><?xml version="1.0" encoding="utf-8"?>
<a:theme xmlns:a="http://schemas.openxmlformats.org/drawingml/2006/main" name="MICROEJ Charter Theme 2019">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roEJ">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MICROEJ Charter Theme 2019" id="{5A3AE017-F6B0-114C-ADCE-6BC49FC09C5A}" vid="{053F1CA5-4783-9745-8D7E-61B9093A8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26956</TotalTime>
  <Words>68</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 Light</vt:lpstr>
      <vt:lpstr>Calibri Regular</vt:lpstr>
      <vt:lpstr>Courier New</vt:lpstr>
      <vt:lpstr>Source Sans Pro</vt:lpstr>
      <vt:lpstr>Source Sans Pro Black</vt:lpstr>
      <vt:lpstr>Source Sans Pro ExtraLight</vt:lpstr>
      <vt:lpstr>Source Sans Pro Light</vt:lpstr>
      <vt:lpstr>MICROEJ Charter Theme 2019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Resources</dc:title>
  <dc:creator>Gaël Caratelli</dc:creator>
  <cp:lastModifiedBy>Frédéric Rivière</cp:lastModifiedBy>
  <cp:revision>415</cp:revision>
  <cp:lastPrinted>2021-01-04T17:40:49Z</cp:lastPrinted>
  <dcterms:created xsi:type="dcterms:W3CDTF">2017-01-10T13:21:08Z</dcterms:created>
  <dcterms:modified xsi:type="dcterms:W3CDTF">2025-11-06T14:26:48Z</dcterms:modified>
</cp:coreProperties>
</file>